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82296" cy="6858000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" y="-2"/>
            <a:ext cx="5943600" cy="5943600"/>
          </a:xfrm>
          <a:prstGeom prst="ellipse">
            <a:avLst/>
          </a:prstGeom>
          <a:solidFill>
            <a:srgbClr val="E03E8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" y="3"/>
            <a:ext cx="5029200" cy="5029200"/>
          </a:xfrm>
          <a:prstGeom prst="ellipse">
            <a:avLst/>
          </a:prstGeom>
          <a:solidFill>
            <a:srgbClr val="FF9F1C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75320" y="640080"/>
            <a:ext cx="3337560" cy="5577840"/>
          </a:xfrm>
          <a:prstGeom prst="roundRect">
            <a:avLst>
              <a:gd name="adj" fmla="val 5000"/>
            </a:avLst>
          </a:prstGeom>
          <a:solidFill>
            <a:srgbClr val="1A142C"/>
          </a:solidFill>
          <a:ln w="190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mily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2" y="758952"/>
            <a:ext cx="3005401" cy="53400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58704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B9B0C8"/>
                </a:solidFill>
                <a:latin typeface="Segoe UI"/>
              </a:rPr>
              <a:t>Three generations, one voice — preserved.</a:t>
            </a:r>
          </a:p>
        </p:txBody>
      </p:sp>
      <p:sp>
        <p:nvSpPr>
          <p:cNvPr id="10" name="Oval 9"/>
          <p:cNvSpPr/>
          <p:nvPr/>
        </p:nvSpPr>
        <p:spPr>
          <a:xfrm>
            <a:off x="754380" y="708660"/>
            <a:ext cx="1051560" cy="1051560"/>
          </a:xfrm>
          <a:prstGeom prst="ellipse">
            <a:avLst/>
          </a:prstGeom>
          <a:solidFill>
            <a:srgbClr val="F7F2E7"/>
          </a:solidFill>
          <a:ln w="31750">
            <a:solidFill>
              <a:srgbClr val="1B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813816"/>
            <a:ext cx="841247" cy="841247"/>
          </a:xfrm>
          <a:prstGeom prst="ellipse">
            <a:avLst/>
          </a:prstGeom>
          <a:noFill/>
          <a:ln w="19050">
            <a:solidFill>
              <a:srgbClr val="1B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" y="1066190"/>
            <a:ext cx="1051560" cy="3364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272B"/>
                </a:solidFill>
                <a:latin typeface="Georgia"/>
              </a:rPr>
              <a:t>ಅಕ್ಕ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" y="1339596"/>
            <a:ext cx="1051560" cy="2734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4FB0"/>
                </a:solidFill>
                <a:latin typeface="Segoe UI"/>
              </a:rPr>
              <a:t>AKKA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896112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EC4B6"/>
                </a:solidFill>
                <a:latin typeface="Segoe UI"/>
              </a:rPr>
              <a:t>ಅಕ್ಕ · AKKAVERSE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148840"/>
            <a:ext cx="74980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7F2E7"/>
                </a:solidFill>
                <a:latin typeface="Georgia"/>
              </a:rPr>
              <a:t>Preserve.
Teach. Celebrate.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7223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9B0C8"/>
                </a:solidFill>
                <a:latin typeface="Segoe UI"/>
              </a:rPr>
              <a:t>A bilingual (English + ಕನ್ನಡ) local-first platform that keeps Kannada language, family memory and heritage alive — one voice at a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9F1C"/>
                </a:solidFill>
                <a:latin typeface="Georgia"/>
              </a:rPr>
              <a:t>by Mithun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9B0C8"/>
                </a:solidFill>
                <a:latin typeface="Segoe UI"/>
              </a:rPr>
              <a:t>akkaverse.vercel.app  ·  github.com/Mithuncoding/akkaverse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3E8A"/>
                </a:solidFill>
                <a:latin typeface="Segoe UI"/>
              </a:rPr>
              <a:t>01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Culture doesn't vanish overnight.
It fades one generation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383280" cy="224028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3383280" cy="12801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200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9F1C"/>
                </a:solidFill>
                <a:latin typeface="Georgia"/>
              </a:rPr>
              <a:t>ಅಜ್ಜಿ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87705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7F2E7"/>
                </a:solidFill>
                <a:latin typeface="Segoe UI"/>
              </a:rPr>
              <a:t>Grandparent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46227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Speaks Kannada fluently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880360"/>
            <a:ext cx="3383280" cy="224028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880360"/>
            <a:ext cx="3383280" cy="128016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200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E03E8A"/>
                </a:solidFill>
                <a:latin typeface="Georgia"/>
              </a:rPr>
              <a:t>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87705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7F2E7"/>
                </a:solidFill>
                <a:latin typeface="Segoe UI"/>
              </a:rPr>
              <a:t>Understands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446227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But rarely speaks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80360"/>
            <a:ext cx="3383280" cy="224028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880360"/>
            <a:ext cx="3383280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200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2EC4B6"/>
                </a:solidFill>
                <a:latin typeface="Georgia"/>
              </a:rPr>
              <a:t>Child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87705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7F2E7"/>
                </a:solidFill>
                <a:latin typeface="Segoe UI"/>
              </a:rPr>
              <a:t>A few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46227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The thread is breaking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9B0C8"/>
                </a:solidFill>
                <a:latin typeface="Segoe UI"/>
              </a:rPr>
              <a:t>When an elder is gone, their voice, blessings, proverbs, recipes and stories go too. Existing heritage apps are static encyclopedias — they store facts, not living family memory.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02  · 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Start with your family — not a textbook.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0515600" cy="1170432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624327"/>
            <a:ext cx="603504" cy="603504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42615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C0A1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478024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F9F1C"/>
                </a:solidFill>
                <a:latin typeface="Georgia"/>
              </a:rPr>
              <a:t>Preserve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41448"/>
            <a:ext cx="6949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Capture an elder's words (blessing, story, song, recipe, advice) in Kannada + English, with their original recording.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10515600" cy="1170432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995928"/>
            <a:ext cx="603504" cy="603504"/>
          </a:xfrm>
          <a:prstGeom prst="ellipse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14215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C0A14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849624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E03E8A"/>
                </a:solidFill>
                <a:latin typeface="Georgia"/>
              </a:rPr>
              <a:t>Teach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13048"/>
            <a:ext cx="6949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Akkaverse auto-generates a bilingual micro-lesson — a phrase to repeat, key vocabulary and a meaning check for the next generation.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0515600" cy="1170432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5367528"/>
            <a:ext cx="603504" cy="603504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85816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C0A14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221224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2EC4B6"/>
                </a:solidFill>
                <a:latin typeface="Georgia"/>
              </a:rPr>
              <a:t>Celebrate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184648"/>
            <a:ext cx="6949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Explore the wider culture with a grounded AI guide, an interactive map, a cinematic timeline, festivals, stories and quizzes.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Segoe UI"/>
              </a:rPr>
              <a:t>03  ·  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Four surfaces. One heritage universe.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166360" cy="173736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" cy="173736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877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F9F1C"/>
                </a:solidFill>
                <a:latin typeface="Georgia"/>
              </a:rPr>
              <a:t>Ask Akka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9544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AI guide with cited Wikipedia answers in EN / ಕನ್ನಡ.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31720"/>
            <a:ext cx="5166360" cy="173736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128016" cy="1737360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5877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E03E8A"/>
                </a:solidFill>
                <a:latin typeface="Georgia"/>
              </a:rPr>
              <a:t>Voice Legacy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09544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Preserve a voice → auto bilingual lesson → pass it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15968"/>
            <a:ext cx="5166360" cy="173736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315968"/>
            <a:ext cx="128016" cy="17373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5720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2EC4B6"/>
                </a:solidFill>
                <a:latin typeface="Georgia"/>
              </a:rPr>
              <a:t>Explore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193792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Interactive Karnataka district map + photos.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315968"/>
            <a:ext cx="5166360" cy="173736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315968"/>
            <a:ext cx="128016" cy="173736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5720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F9F1C"/>
                </a:solidFill>
                <a:latin typeface="Georgia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193792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Cinematic scroll through 2,500 years of history.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9B0C8"/>
                </a:solidFill>
                <a:latin typeface="Segoe UI"/>
              </a:rPr>
              <a:t>Fully bilingual  ·  no login  ·  works offline (PWA)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04  ·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Grounded AI — not a chatbot wrapper.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1965960" cy="109728"/>
          </a:xfrm>
          <a:prstGeom prst="rect">
            <a:avLst/>
          </a:prstGeom>
          <a:solidFill>
            <a:srgbClr val="B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B0C8"/>
                </a:solidFill>
                <a:latin typeface="Segoe UI"/>
              </a:rPr>
              <a:t>User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7F2E7"/>
                </a:solidFill>
                <a:latin typeface="Segoe UI"/>
              </a:rPr>
              <a:t>EN or ಕನ್ನಡ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92608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5808" y="251460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35808" y="2514600"/>
            <a:ext cx="196596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274320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Segoe UI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29184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7F2E7"/>
                </a:solidFill>
                <a:latin typeface="Segoe UI"/>
              </a:rPr>
              <a:t>Wikipedia REST
+ PageImages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92608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8656" y="251460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48656" y="2514600"/>
            <a:ext cx="1965960" cy="109728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6" y="274320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9F1C"/>
                </a:solidFill>
                <a:latin typeface="Segoe UI"/>
              </a:rPr>
              <a:t>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329184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7F2E7"/>
                </a:solidFill>
                <a:latin typeface="Segoe UI"/>
              </a:rPr>
              <a:t>Inject context
+ citations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292608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251460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61504" y="2514600"/>
            <a:ext cx="1965960" cy="109728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274320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3E8A"/>
                </a:solidFill>
                <a:latin typeface="Segoe UI"/>
              </a:rPr>
              <a:t>NVIDIA NIM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329184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7F2E7"/>
                </a:solidFill>
                <a:latin typeface="Segoe UI"/>
              </a:rPr>
              <a:t>Llama 3.1 8B →
Nemotron 49B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92608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74352" y="251460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4352" y="2514600"/>
            <a:ext cx="196596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274320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Segoe UI"/>
              </a:rPr>
              <a:t>Cited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329184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7F2E7"/>
                </a:solidFill>
                <a:latin typeface="Segoe UI"/>
              </a:rPr>
              <a:t>Streamed with
sources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526280"/>
            <a:ext cx="10515600" cy="1554480"/>
          </a:xfrm>
          <a:prstGeom prst="roundRect">
            <a:avLst>
              <a:gd name="adj" fmla="val 8000"/>
            </a:avLst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709160"/>
            <a:ext cx="10058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7F2E7"/>
                </a:solidFill>
                <a:latin typeface="Segoe UI"/>
              </a:rPr>
              <a:t>Server-only API key — never shipped to the browser. Local-first storage: family data in localStorage, original audio in IndexedDB. Nothing is uploaded. If the key or network is missing, curated fallbacks still answer.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Segoe UI"/>
              </a:rPr>
              <a:t>05  ·  TECH STACK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Lean stack. Serious guarantees.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9F1C"/>
                </a:solidFill>
                <a:latin typeface="Segoe U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3774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7F2E7"/>
                </a:solidFill>
                <a:latin typeface="Segoe UI"/>
              </a:rPr>
              <a:t>Next.js (App Router), React, TypeScript, Tailwind, shadcn/ui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52928"/>
            <a:ext cx="10424160" cy="10972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358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9F1C"/>
                </a:solidFill>
                <a:latin typeface="Segoe UI"/>
              </a:rPr>
              <a:t>AI /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3580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7F2E7"/>
                </a:solidFill>
                <a:latin typeface="Segoe UI"/>
              </a:rPr>
              <a:t>NVIDIA NIM — Llama 3.1 8B → Nemotron Super 49B (language-aware)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511296"/>
            <a:ext cx="10424160" cy="10972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9F1C"/>
                </a:solidFill>
                <a:latin typeface="Segoe UI"/>
              </a:rPr>
              <a:t>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694176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7F2E7"/>
                </a:solidFill>
                <a:latin typeface="Segoe UI"/>
              </a:rPr>
              <a:t>Wikipedia REST + PageImages retrieval with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169664"/>
            <a:ext cx="10424160" cy="10972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9F1C"/>
                </a:solidFill>
                <a:latin typeface="Segoe UI"/>
              </a:rPr>
              <a:t>Voice &amp;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352544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7F2E7"/>
                </a:solidFill>
                <a:latin typeface="Segoe UI"/>
              </a:rPr>
              <a:t>Keyless Kannada TTS + browser fallback; Tesseract.js in-browser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28031"/>
            <a:ext cx="10424160" cy="10972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1091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9F1C"/>
                </a:solidFill>
                <a:latin typeface="Segoe UI"/>
              </a:rP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010912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7F2E7"/>
                </a:solidFill>
                <a:latin typeface="Segoe UI"/>
              </a:rPr>
              <a:t>localStorage + IndexedDB — local-first, no login, offline PWA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486400"/>
            <a:ext cx="10424160" cy="10972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927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9F1C"/>
                </a:solidFill>
                <a:latin typeface="Segoe UI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669279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7F2E7"/>
                </a:solidFill>
                <a:latin typeface="Segoe UI"/>
              </a:rPr>
              <a:t>Vercel — single deployment, one free NIM key, no 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6144767"/>
            <a:ext cx="10424160" cy="10972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3E8A"/>
                </a:solidFill>
                <a:latin typeface="Segoe UI"/>
              </a:rPr>
              <a:t>06  ·  WHY IT'S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Not another encyclopedia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761488"/>
            <a:ext cx="237744" cy="237744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542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9F1C"/>
                </a:solidFill>
                <a:latin typeface="Segoe UI"/>
              </a:rPr>
              <a:t>Family-first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260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9B0C8"/>
                </a:solidFill>
                <a:latin typeface="Segoe UI"/>
              </a:rPr>
              <a:t>Begins with your elder's voice, not a textbook.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7744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4808" y="2761488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542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C4B6"/>
                </a:solidFill>
                <a:latin typeface="Segoe UI"/>
              </a:rPr>
              <a:t>Shows its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260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9B0C8"/>
                </a:solidFill>
                <a:latin typeface="Segoe UI"/>
              </a:rPr>
              <a:t>Grounded AI cites Wikipedia — no invented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" y="3950208"/>
            <a:ext cx="237744" cy="237744"/>
          </a:xfrm>
          <a:prstGeom prst="ellipse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3E8A"/>
                </a:solidFill>
                <a:latin typeface="Segoe UI"/>
              </a:rPr>
              <a:t>Private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1148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9B0C8"/>
                </a:solidFill>
                <a:latin typeface="Segoe UI"/>
              </a:rPr>
              <a:t>No account, no upload; data stays on your 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4808" y="3950208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7307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C4B6"/>
                </a:solidFill>
                <a:latin typeface="Segoe UI"/>
              </a:rPr>
              <a:t>Truly bilingual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1148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9B0C8"/>
                </a:solidFill>
                <a:latin typeface="Segoe UI"/>
              </a:rPr>
              <a:t>Every string in EN, ಕನ್ನಡ, or both at once.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5488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5568" y="5138928"/>
            <a:ext cx="237744" cy="237744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9194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9F1C"/>
                </a:solidFill>
                <a:latin typeface="Segoe UI"/>
              </a:rPr>
              <a:t>Works offline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3035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9B0C8"/>
                </a:solidFill>
                <a:latin typeface="Segoe UI"/>
              </a:rPr>
              <a:t>Core pages run without a network (PWA).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75488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4808" y="5138928"/>
            <a:ext cx="237744" cy="237744"/>
          </a:xfrm>
          <a:prstGeom prst="ellipse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9194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3E8A"/>
                </a:solidFill>
                <a:latin typeface="Segoe UI"/>
              </a:rPr>
              <a:t>Zero-friction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3035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9B0C8"/>
                </a:solidFill>
                <a:latin typeface="Segoe UI"/>
              </a:rPr>
              <a:t>No login — judges use every feature instantly.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07  ·  BUSINESS VIABILITY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High margin. Real Karnataka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50008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7F2E7"/>
                </a:solidFill>
                <a:latin typeface="Segoe UI"/>
              </a:rPr>
              <a:t>Scale path:  Diaspora families  →  Kannada schools &amp; cultural associations  →  other Indian languages (same engine, swap datasets)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20440"/>
            <a:ext cx="3383280" cy="246888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3383280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81304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C4B6"/>
                </a:solidFill>
                <a:latin typeface="Georgia"/>
              </a:rPr>
              <a:t>Karnataka 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48056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2E7"/>
                </a:solidFill>
                <a:latin typeface="Segoe UI"/>
              </a:rPr>
              <a:t>Tourism via the district Explore layer; a discovery surface for local MSMEs &amp; artisans through festivals and stories.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20440"/>
            <a:ext cx="3383280" cy="246888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3520440"/>
            <a:ext cx="3383280" cy="12801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81304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9F1C"/>
                </a:solidFill>
                <a:latin typeface="Georgia"/>
              </a:rPr>
              <a:t>Cost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448056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2E7"/>
                </a:solidFill>
                <a:latin typeface="Segoe UI"/>
              </a:rPr>
              <a:t>Near-zero infra — one Vercel deploy + free NIM tier, no database. High margin by construction.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520440"/>
            <a:ext cx="3383280" cy="246888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520440"/>
            <a:ext cx="3383280" cy="128016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81304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3E8A"/>
                </a:solidFill>
                <a:latin typeface="Georgia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48056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2E7"/>
                </a:solidFill>
                <a:latin typeface="Segoe UI"/>
              </a:rPr>
              <a:t>School / institution licences and an optional opt-in cloud-sync tier for families across devices.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Segoe UI"/>
              </a:rPr>
              <a:t>08  ·  IMPACT &amp;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Every preserved voice becomes a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9F1C"/>
                </a:solidFill>
                <a:latin typeface="Georgia"/>
              </a:rPr>
              <a:t>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83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7F2E7"/>
                </a:solidFill>
                <a:latin typeface="Segoe UI"/>
              </a:rPr>
              <a:t>to preserve a voice
and auto-build a lesson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03E8A"/>
                </a:solidFill>
                <a:latin typeface="Georgia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383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7F2E7"/>
                </a:solidFill>
                <a:latin typeface="Segoe UI"/>
              </a:rPr>
              <a:t>logins, uploads, or
credentials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7744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2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EC4B6"/>
                </a:solidFill>
                <a:latin typeface="Georgia"/>
              </a:rPr>
              <a:t>EN + ಕನ್ನಡ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383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7F2E7"/>
                </a:solidFill>
                <a:latin typeface="Segoe UI"/>
              </a:rPr>
              <a:t>every screen,
fully bilingual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10515600" cy="1600200"/>
          </a:xfrm>
          <a:prstGeom prst="roundRect">
            <a:avLst>
              <a:gd name="adj" fmla="val 8000"/>
            </a:avLst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72000"/>
            <a:ext cx="10058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7F2E7"/>
                </a:solidFill>
                <a:latin typeface="Segoe UI"/>
              </a:rPr>
              <a:t>Inclusive by design — usable by non-technical elders on any device. The preserve-and-teach loop turns a passive “someday I'll record grandpa” intention into a finished, shareable bilingual lesson.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B9B0C8"/>
                </a:solidFill>
                <a:latin typeface="Segoe UI"/>
              </a:rPr>
              <a:t>Add tester quotes / feedback gathered during the build phase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419088"/>
            <a:ext cx="10543032" cy="12801"/>
          </a:xfrm>
          <a:prstGeom prst="rect">
            <a:avLst/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B0C8"/>
                </a:solidFill>
                <a:latin typeface="Segoe UI"/>
              </a:rPr>
              <a:t>ಅಕ್ಕ  Akkaverse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473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9B0C8"/>
                </a:solidFill>
                <a:latin typeface="Segoe UI"/>
              </a:rPr>
              <a:t>Built by Mithun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82296" cy="6858000"/>
          </a:xfrm>
          <a:prstGeom prst="rect">
            <a:avLst/>
          </a:prstGeom>
          <a:solidFill>
            <a:srgbClr val="E0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" y="3"/>
            <a:ext cx="5486400" cy="5486400"/>
          </a:xfrm>
          <a:prstGeom prst="ellipse">
            <a:avLst/>
          </a:prstGeom>
          <a:solidFill>
            <a:srgbClr val="E03E8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822960"/>
            <a:ext cx="82296" cy="3108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7863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09  ·  6-MONTH ROADMAP &amp; THE ASK</a:t>
            </a:r>
          </a:p>
        </p:txBody>
      </p:sp>
      <p:sp>
        <p:nvSpPr>
          <p:cNvPr id="8" name="Oval 7"/>
          <p:cNvSpPr/>
          <p:nvPr/>
        </p:nvSpPr>
        <p:spPr>
          <a:xfrm>
            <a:off x="10218419" y="662940"/>
            <a:ext cx="960120" cy="960120"/>
          </a:xfrm>
          <a:prstGeom prst="ellipse">
            <a:avLst/>
          </a:prstGeom>
          <a:solidFill>
            <a:srgbClr val="F7F2E7"/>
          </a:solidFill>
          <a:ln w="31750">
            <a:solidFill>
              <a:srgbClr val="1B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14432" y="758952"/>
            <a:ext cx="768096" cy="768096"/>
          </a:xfrm>
          <a:prstGeom prst="ellipse">
            <a:avLst/>
          </a:prstGeom>
          <a:noFill/>
          <a:ln w="19050">
            <a:solidFill>
              <a:srgbClr val="1B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18419" y="989380"/>
            <a:ext cx="960120" cy="307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272B"/>
                </a:solidFill>
                <a:latin typeface="Georgia"/>
              </a:rPr>
              <a:t>ಅಕ್ಕ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18419" y="1239012"/>
            <a:ext cx="960120" cy="249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4FB0"/>
                </a:solidFill>
                <a:latin typeface="Segoe UI"/>
              </a:rPr>
              <a:t>AKKA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887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7F2E7"/>
                </a:solidFill>
                <a:latin typeface="Georgia"/>
              </a:rPr>
              <a:t>If we had six more months…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368296"/>
            <a:ext cx="182880" cy="1828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2402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7F2E7"/>
                </a:solidFill>
                <a:latin typeface="Segoe UI"/>
              </a:rPr>
              <a:t>Opt-in cloud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RLS-protected accounts + cross-device audio.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2880360"/>
            <a:ext cx="182880" cy="1828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52344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7F2E7"/>
                </a:solidFill>
                <a:latin typeface="Segoe UI"/>
              </a:rPr>
              <a:t>Voice-cloning narration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52344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Preserved recordings speak new text in the elder's own voice (with consent).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392424"/>
            <a:ext cx="182880" cy="1828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26440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7F2E7"/>
                </a:solidFill>
                <a:latin typeface="Segoe UI"/>
              </a:rPr>
              <a:t>Community oral-history wall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26440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A moderated public archive of shared voices.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904488"/>
            <a:ext cx="182880" cy="1828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77647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7F2E7"/>
                </a:solidFill>
                <a:latin typeface="Segoe UI"/>
              </a:rPr>
              <a:t>School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776472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Teacher dashboards + assignments from Voice Legacy lessons.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416552"/>
            <a:ext cx="182880" cy="18288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28853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7F2E7"/>
                </a:solidFill>
                <a:latin typeface="Segoe UI"/>
              </a:rPr>
              <a:t>Kannada literary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288536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B0C8"/>
                </a:solidFill>
                <a:latin typeface="Segoe UI"/>
              </a:rPr>
              <a:t>Grounding beyond Wikipedia into curated Kannada sources.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956048"/>
            <a:ext cx="10543032" cy="1335024"/>
          </a:xfrm>
          <a:prstGeom prst="roundRect">
            <a:avLst>
              <a:gd name="adj" fmla="val 8000"/>
            </a:avLst>
          </a:prstGeom>
          <a:solidFill>
            <a:srgbClr val="1A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10235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9F1C"/>
                </a:solidFill>
                <a:latin typeface="Georgia"/>
              </a:rPr>
              <a:t>Thank you.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2E7"/>
                </a:solidFill>
                <a:latin typeface="Segoe UI"/>
              </a:rPr>
              <a:t>   Let's keep every family's voice alive.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7972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9B0C8"/>
                </a:solidFill>
                <a:latin typeface="Segoe UI"/>
              </a:rPr>
              <a:t>Live  akkaverse.vercel.app      ·      Code  github.com/Mithuncoding/akkaverse      ·      Video  youtu.be/lXtAyZyDumM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73952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9B0C8"/>
                </a:solidFill>
                <a:latin typeface="Segoe UI"/>
              </a:rPr>
              <a:t>ಅಕ್ಕ  Akkaverse  ·  Built by Mithun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