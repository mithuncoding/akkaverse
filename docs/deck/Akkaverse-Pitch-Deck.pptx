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91440" cy="6858000"/>
          </a:xfrm>
          <a:prstGeom prst="rect">
            <a:avLst/>
          </a:prstGeom>
          <a:solidFill>
            <a:srgbClr val="E03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80960" y="-1097280"/>
            <a:ext cx="5486400" cy="5486400"/>
          </a:xfrm>
          <a:prstGeom prst="rect">
            <a:avLst/>
          </a:prstGeom>
          <a:solidFill>
            <a:srgbClr val="1A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149840" y="1005840"/>
            <a:ext cx="1463040" cy="1463040"/>
          </a:xfrm>
          <a:prstGeom prst="ellipse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0" y="4480560"/>
            <a:ext cx="1005840" cy="1005840"/>
          </a:xfrm>
          <a:prstGeom prst="ellipse">
            <a:avLst/>
          </a:prstGeom>
          <a:solidFill>
            <a:srgbClr val="E03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64240" y="3291840"/>
            <a:ext cx="640080" cy="64008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37160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2EC4B6"/>
                </a:solidFill>
                <a:latin typeface="Segoe UI"/>
              </a:rPr>
              <a:t>ಅಕ್ಕ · AKKAVERSE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11680"/>
            <a:ext cx="96012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600" b="1" i="0">
                <a:solidFill>
                  <a:srgbClr val="F7F2E7"/>
                </a:solidFill>
                <a:latin typeface="Georgia"/>
              </a:rPr>
              <a:t>Preserve. Teach.
Celebrate.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34340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B9B0C8"/>
                </a:solidFill>
                <a:latin typeface="Segoe UI"/>
              </a:rPr>
              <a:t>A bilingual (English + ಕನ್ನಡ) local-first platform that keeps Kannada language, family memory, and heritage alive — one voice at a time.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80644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9F1C"/>
                </a:solidFill>
                <a:latin typeface="Segoe UI"/>
              </a:rPr>
              <a:t>akkaverse.vercel.app   ·   github.com/Mithuncoding/akkaverse   ·   youtu.be/lXtAyZyDumM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786384"/>
            <a:ext cx="82296" cy="310896"/>
          </a:xfrm>
          <a:prstGeom prst="rect">
            <a:avLst/>
          </a:prstGeom>
          <a:solidFill>
            <a:srgbClr val="E03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749808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03E8A"/>
                </a:solidFill>
                <a:latin typeface="Segoe UI"/>
              </a:rPr>
              <a:t>01  · 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F7F2E7"/>
                </a:solidFill>
                <a:latin typeface="Georgia"/>
              </a:rPr>
              <a:t>Culture doesn't disappear overnight.
It fades one generation at a 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926080"/>
            <a:ext cx="3383280" cy="2286000"/>
          </a:xfrm>
          <a:prstGeom prst="roundRect">
            <a:avLst>
              <a:gd name="adj" fmla="val 8000"/>
            </a:avLst>
          </a:prstGeom>
          <a:solidFill>
            <a:srgbClr val="241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926080"/>
            <a:ext cx="3383280" cy="128016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324612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9F1C"/>
                </a:solidFill>
                <a:latin typeface="Georgia"/>
              </a:rPr>
              <a:t>ಅಜ್ಜಿ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393192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7F2E7"/>
                </a:solidFill>
                <a:latin typeface="Segoe UI"/>
              </a:rPr>
              <a:t>Grandparent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452628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B9B0C8"/>
                </a:solidFill>
                <a:latin typeface="Segoe UI"/>
              </a:rPr>
              <a:t>Speaks Kannada fluently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926080"/>
            <a:ext cx="3383280" cy="2286000"/>
          </a:xfrm>
          <a:prstGeom prst="roundRect">
            <a:avLst>
              <a:gd name="adj" fmla="val 8000"/>
            </a:avLst>
          </a:prstGeom>
          <a:solidFill>
            <a:srgbClr val="241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34840" y="2926080"/>
            <a:ext cx="3383280" cy="128016"/>
          </a:xfrm>
          <a:prstGeom prst="rect">
            <a:avLst/>
          </a:prstGeom>
          <a:solidFill>
            <a:srgbClr val="E03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27448" y="324612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E03E8A"/>
                </a:solidFill>
                <a:latin typeface="Georgia"/>
              </a:rPr>
              <a:t>Parent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393192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7F2E7"/>
                </a:solidFill>
                <a:latin typeface="Segoe UI"/>
              </a:rPr>
              <a:t>Understands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452628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B9B0C8"/>
                </a:solidFill>
                <a:latin typeface="Segoe UI"/>
              </a:rPr>
              <a:t>But rarely speaks 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2926080"/>
            <a:ext cx="3383280" cy="2286000"/>
          </a:xfrm>
          <a:prstGeom prst="roundRect">
            <a:avLst>
              <a:gd name="adj" fmla="val 8000"/>
            </a:avLst>
          </a:prstGeom>
          <a:solidFill>
            <a:srgbClr val="241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2926080"/>
            <a:ext cx="3383280" cy="12801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8" y="324612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2EC4B6"/>
                </a:solidFill>
                <a:latin typeface="Georgia"/>
              </a:rPr>
              <a:t>Child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8" y="393192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7F2E7"/>
                </a:solidFill>
                <a:latin typeface="Segoe UI"/>
              </a:rPr>
              <a:t>A few words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8" y="452628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B9B0C8"/>
                </a:solidFill>
                <a:latin typeface="Segoe UI"/>
              </a:rPr>
              <a:t>The thread is breaking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B9B0C8"/>
                </a:solidFill>
                <a:latin typeface="Segoe UI"/>
              </a:rPr>
              <a:t>When an elder is gone, their voice, blessings, proverbs, recipes and stories go too. Existing heritage apps are static encyclopedias — they store facts, not living family memory.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786384"/>
            <a:ext cx="82296" cy="310896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749808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9F1C"/>
                </a:solidFill>
                <a:latin typeface="Segoe UI"/>
              </a:rPr>
              <a:t>02  ·  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F7F2E7"/>
                </a:solidFill>
                <a:latin typeface="Georgia"/>
              </a:rPr>
              <a:t>Start with your family — not a textbook.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468880"/>
            <a:ext cx="10515600" cy="1170432"/>
          </a:xfrm>
          <a:prstGeom prst="roundRect">
            <a:avLst>
              <a:gd name="adj" fmla="val 8000"/>
            </a:avLst>
          </a:prstGeom>
          <a:solidFill>
            <a:srgbClr val="241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2761488"/>
            <a:ext cx="603504" cy="603504"/>
          </a:xfrm>
          <a:prstGeom prst="ellipse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779776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0E0B16"/>
                </a:solidFill>
                <a:latin typeface="Georg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2615184"/>
            <a:ext cx="21945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FF9F1C"/>
                </a:solidFill>
                <a:latin typeface="Georgia"/>
              </a:rPr>
              <a:t>Preserve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578608"/>
            <a:ext cx="69494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7F2E7"/>
                </a:solidFill>
                <a:latin typeface="Segoe UI"/>
              </a:rPr>
              <a:t>Capture an elder's words (blessing, story, song, recipe, advice) in Kannada + English, with their original recording.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10515600" cy="1170432"/>
          </a:xfrm>
          <a:prstGeom prst="roundRect">
            <a:avLst>
              <a:gd name="adj" fmla="val 8000"/>
            </a:avLst>
          </a:prstGeom>
          <a:solidFill>
            <a:srgbClr val="241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7280" y="4133088"/>
            <a:ext cx="603504" cy="603504"/>
          </a:xfrm>
          <a:prstGeom prst="ellipse">
            <a:avLst/>
          </a:prstGeom>
          <a:solidFill>
            <a:srgbClr val="E03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151376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0E0B16"/>
                </a:solidFill>
                <a:latin typeface="Georg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3986784"/>
            <a:ext cx="21945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E03E8A"/>
                </a:solidFill>
                <a:latin typeface="Georgia"/>
              </a:rPr>
              <a:t>Teach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3950208"/>
            <a:ext cx="69494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7F2E7"/>
                </a:solidFill>
                <a:latin typeface="Segoe UI"/>
              </a:rPr>
              <a:t>Akkaverse auto-generates a bilingual micro-lesson — a phrase to repeat, key vocabulary, and a meaning check for the next generation.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212080"/>
            <a:ext cx="10515600" cy="1170432"/>
          </a:xfrm>
          <a:prstGeom prst="roundRect">
            <a:avLst>
              <a:gd name="adj" fmla="val 8000"/>
            </a:avLst>
          </a:prstGeom>
          <a:solidFill>
            <a:srgbClr val="241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97280" y="5504688"/>
            <a:ext cx="603504" cy="603504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5522976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0E0B16"/>
                </a:solidFill>
                <a:latin typeface="Georg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5358384"/>
            <a:ext cx="21945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2EC4B6"/>
                </a:solidFill>
                <a:latin typeface="Georgia"/>
              </a:rPr>
              <a:t>Celebrate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5321808"/>
            <a:ext cx="69494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7F2E7"/>
                </a:solidFill>
                <a:latin typeface="Segoe UI"/>
              </a:rPr>
              <a:t>Explore the wider culture with a grounded AI guide, an interactive map, a cinematic timeline, festivals, stories and quizzes.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786384"/>
            <a:ext cx="82296" cy="3108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749808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C4B6"/>
                </a:solidFill>
                <a:latin typeface="Segoe UI"/>
              </a:rPr>
              <a:t>03  ·  PRODUCT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F7F2E7"/>
                </a:solidFill>
                <a:latin typeface="Georgia"/>
              </a:rPr>
              <a:t>Four surfaces. One heritage universe.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514600"/>
            <a:ext cx="5166360" cy="1783080"/>
          </a:xfrm>
          <a:prstGeom prst="roundRect">
            <a:avLst>
              <a:gd name="adj" fmla="val 8000"/>
            </a:avLst>
          </a:prstGeom>
          <a:solidFill>
            <a:srgbClr val="241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514600"/>
            <a:ext cx="128016" cy="1783080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770632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FF9F1C"/>
                </a:solidFill>
                <a:latin typeface="Georgia"/>
              </a:rPr>
              <a:t>Ask Akka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410712"/>
            <a:ext cx="4572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7F2E7"/>
                </a:solidFill>
                <a:latin typeface="Segoe UI"/>
              </a:rPr>
              <a:t>AI guide with cited Wikipedia answers in EN / ಕನ್ನಡ.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514600"/>
            <a:ext cx="5166360" cy="1783080"/>
          </a:xfrm>
          <a:prstGeom prst="roundRect">
            <a:avLst>
              <a:gd name="adj" fmla="val 8000"/>
            </a:avLst>
          </a:prstGeom>
          <a:solidFill>
            <a:srgbClr val="241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2514600"/>
            <a:ext cx="128016" cy="1783080"/>
          </a:xfrm>
          <a:prstGeom prst="rect">
            <a:avLst/>
          </a:prstGeom>
          <a:solidFill>
            <a:srgbClr val="E03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2770632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E03E8A"/>
                </a:solidFill>
                <a:latin typeface="Georgia"/>
              </a:rPr>
              <a:t>Voice Legacy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410712"/>
            <a:ext cx="4572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7F2E7"/>
                </a:solidFill>
                <a:latin typeface="Segoe UI"/>
              </a:rPr>
              <a:t>Preserve a voice → auto bilingual lesson → pass it 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572000"/>
            <a:ext cx="5166360" cy="1783080"/>
          </a:xfrm>
          <a:prstGeom prst="roundRect">
            <a:avLst>
              <a:gd name="adj" fmla="val 8000"/>
            </a:avLst>
          </a:prstGeom>
          <a:solidFill>
            <a:srgbClr val="241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4572000"/>
            <a:ext cx="128016" cy="178308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4828032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2EC4B6"/>
                </a:solidFill>
                <a:latin typeface="Georgia"/>
              </a:rPr>
              <a:t>Explore Map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5468112"/>
            <a:ext cx="4572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7F2E7"/>
                </a:solidFill>
                <a:latin typeface="Segoe UI"/>
              </a:rPr>
              <a:t>Interactive Karnataka district map + photos.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4572000"/>
            <a:ext cx="5166360" cy="1783080"/>
          </a:xfrm>
          <a:prstGeom prst="roundRect">
            <a:avLst>
              <a:gd name="adj" fmla="val 8000"/>
            </a:avLst>
          </a:prstGeom>
          <a:solidFill>
            <a:srgbClr val="241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4572000"/>
            <a:ext cx="128016" cy="1783080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4828032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FF9F1C"/>
                </a:solidFill>
                <a:latin typeface="Georgia"/>
              </a:rPr>
              <a:t>Timeline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5468112"/>
            <a:ext cx="4572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7F2E7"/>
                </a:solidFill>
                <a:latin typeface="Segoe UI"/>
              </a:rPr>
              <a:t>Cinematic scroll through 2,500 years of history.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41908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B9B0C8"/>
                </a:solidFill>
                <a:latin typeface="Segoe UI"/>
              </a:rPr>
              <a:t>Fully bilingual  ·  no login  ·  works offline (PWA)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786384"/>
            <a:ext cx="82296" cy="310896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749808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9F1C"/>
                </a:solidFill>
                <a:latin typeface="Segoe UI"/>
              </a:rPr>
              <a:t>04  · 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F7F2E7"/>
                </a:solidFill>
                <a:latin typeface="Georgia"/>
              </a:rPr>
              <a:t>Grounded AI — not a chatbot wrapper.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651760"/>
            <a:ext cx="1965960" cy="1600200"/>
          </a:xfrm>
          <a:prstGeom prst="roundRect">
            <a:avLst>
              <a:gd name="adj" fmla="val 8000"/>
            </a:avLst>
          </a:prstGeom>
          <a:solidFill>
            <a:srgbClr val="241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651760"/>
            <a:ext cx="1965960" cy="109728"/>
          </a:xfrm>
          <a:prstGeom prst="rect">
            <a:avLst/>
          </a:prstGeom>
          <a:solidFill>
            <a:srgbClr val="B9B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889504"/>
            <a:ext cx="1645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B9B0C8"/>
                </a:solidFill>
                <a:latin typeface="Segoe UI"/>
              </a:rPr>
              <a:t>User asks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645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F7F2E7"/>
                </a:solidFill>
                <a:latin typeface="Segoe UI"/>
              </a:rPr>
              <a:t>EN or ಕನ್ನಡ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3063240"/>
            <a:ext cx="365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9F1C"/>
                </a:solidFill>
                <a:latin typeface="Segoe U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35808" y="2651760"/>
            <a:ext cx="1965960" cy="1600200"/>
          </a:xfrm>
          <a:prstGeom prst="roundRect">
            <a:avLst>
              <a:gd name="adj" fmla="val 8000"/>
            </a:avLst>
          </a:prstGeom>
          <a:solidFill>
            <a:srgbClr val="241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035808" y="2651760"/>
            <a:ext cx="1965960" cy="10972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18688" y="2889504"/>
            <a:ext cx="1645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EC4B6"/>
                </a:solidFill>
                <a:latin typeface="Segoe UI"/>
              </a:rPr>
              <a:t>Retrieve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18688" y="3429000"/>
            <a:ext cx="1645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F7F2E7"/>
                </a:solidFill>
                <a:latin typeface="Segoe UI"/>
              </a:rPr>
              <a:t>Wikipedia REST
+ PageImages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01768" y="3063240"/>
            <a:ext cx="365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9F1C"/>
                </a:solidFill>
                <a:latin typeface="Segoe U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48656" y="2651760"/>
            <a:ext cx="1965960" cy="1600200"/>
          </a:xfrm>
          <a:prstGeom prst="roundRect">
            <a:avLst>
              <a:gd name="adj" fmla="val 8000"/>
            </a:avLst>
          </a:prstGeom>
          <a:solidFill>
            <a:srgbClr val="241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248656" y="2651760"/>
            <a:ext cx="1965960" cy="109728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31536" y="2889504"/>
            <a:ext cx="1645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9F1C"/>
                </a:solidFill>
                <a:latin typeface="Segoe UI"/>
              </a:rPr>
              <a:t>Ground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31536" y="3429000"/>
            <a:ext cx="1645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F7F2E7"/>
                </a:solidFill>
                <a:latin typeface="Segoe UI"/>
              </a:rPr>
              <a:t>Inject context
+ citations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14616" y="3063240"/>
            <a:ext cx="365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9F1C"/>
                </a:solidFill>
                <a:latin typeface="Segoe U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61504" y="2651760"/>
            <a:ext cx="1965960" cy="1600200"/>
          </a:xfrm>
          <a:prstGeom prst="roundRect">
            <a:avLst>
              <a:gd name="adj" fmla="val 8000"/>
            </a:avLst>
          </a:prstGeom>
          <a:solidFill>
            <a:srgbClr val="241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61504" y="2651760"/>
            <a:ext cx="1965960" cy="109728"/>
          </a:xfrm>
          <a:prstGeom prst="rect">
            <a:avLst/>
          </a:prstGeom>
          <a:solidFill>
            <a:srgbClr val="E03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44383" y="2889504"/>
            <a:ext cx="1645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03E8A"/>
                </a:solidFill>
                <a:latin typeface="Segoe UI"/>
              </a:rPr>
              <a:t>NVIDIA NIM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44383" y="3429000"/>
            <a:ext cx="1645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F7F2E7"/>
                </a:solidFill>
                <a:latin typeface="Segoe UI"/>
              </a:rPr>
              <a:t>Llama 3.1 8B →
Nemotron 49B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27464" y="3063240"/>
            <a:ext cx="365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9F1C"/>
                </a:solidFill>
                <a:latin typeface="Segoe UI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74352" y="2651760"/>
            <a:ext cx="1965960" cy="1600200"/>
          </a:xfrm>
          <a:prstGeom prst="roundRect">
            <a:avLst>
              <a:gd name="adj" fmla="val 8000"/>
            </a:avLst>
          </a:prstGeom>
          <a:solidFill>
            <a:srgbClr val="241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74352" y="2651760"/>
            <a:ext cx="1965960" cy="10972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7232" y="2889504"/>
            <a:ext cx="1645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EC4B6"/>
                </a:solidFill>
                <a:latin typeface="Segoe UI"/>
              </a:rPr>
              <a:t>Cited answer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57232" y="3429000"/>
            <a:ext cx="1645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F7F2E7"/>
                </a:solidFill>
                <a:latin typeface="Segoe UI"/>
              </a:rPr>
              <a:t>Streamed with
sources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4663440"/>
            <a:ext cx="10515600" cy="1554480"/>
          </a:xfrm>
          <a:prstGeom prst="roundRect">
            <a:avLst>
              <a:gd name="adj" fmla="val 8000"/>
            </a:avLst>
          </a:prstGeom>
          <a:solidFill>
            <a:srgbClr val="1A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4892040"/>
            <a:ext cx="1005840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F7F2E7"/>
                </a:solidFill>
                <a:latin typeface="Segoe UI"/>
              </a:rPr>
              <a:t>Server-only API key — never shipped to the browser. Local-first storage: family data in localStorage, original audio in IndexedDB. Nothing is uploaded. If the key or network is missing, curated fallbacks still answer.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786384"/>
            <a:ext cx="82296" cy="3108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749808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C4B6"/>
                </a:solidFill>
                <a:latin typeface="Segoe UI"/>
              </a:rPr>
              <a:t>05  ·  TECH STACK &amp; TRUST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F7F2E7"/>
                </a:solidFill>
                <a:latin typeface="Georgia"/>
              </a:rPr>
              <a:t>Lean stack. Serious guarantees.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5146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9F1C"/>
                </a:solidFill>
                <a:latin typeface="Segoe UI"/>
              </a:rPr>
              <a:t>Frontend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251460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F7F2E7"/>
                </a:solidFill>
                <a:latin typeface="Segoe UI"/>
              </a:rPr>
              <a:t>Next.js (App Router), React, TypeScript, Tailwind, shadcn/ui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990088"/>
            <a:ext cx="10424160" cy="10972"/>
          </a:xfrm>
          <a:prstGeom prst="rect">
            <a:avLst/>
          </a:prstGeom>
          <a:solidFill>
            <a:srgbClr val="1A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172968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9F1C"/>
                </a:solidFill>
                <a:latin typeface="Segoe UI"/>
              </a:rPr>
              <a:t>AI / LLMs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3172968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F7F2E7"/>
                </a:solidFill>
                <a:latin typeface="Segoe UI"/>
              </a:rPr>
              <a:t>NVIDIA NIM — Llama 3.1 8B → Nemotron Super 49B (language-aware)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3648456"/>
            <a:ext cx="10424160" cy="10972"/>
          </a:xfrm>
          <a:prstGeom prst="rect">
            <a:avLst/>
          </a:prstGeom>
          <a:solidFill>
            <a:srgbClr val="1A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831335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9F1C"/>
                </a:solidFill>
                <a:latin typeface="Segoe UI"/>
              </a:rPr>
              <a:t>Grounding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831335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F7F2E7"/>
                </a:solidFill>
                <a:latin typeface="Segoe UI"/>
              </a:rPr>
              <a:t>Wikipedia REST + PageImages retrieval with citations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306823"/>
            <a:ext cx="10424160" cy="10972"/>
          </a:xfrm>
          <a:prstGeom prst="rect">
            <a:avLst/>
          </a:prstGeom>
          <a:solidFill>
            <a:srgbClr val="1A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489703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9F1C"/>
                </a:solidFill>
                <a:latin typeface="Segoe UI"/>
              </a:rPr>
              <a:t>Voice &amp; OCR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489703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F7F2E7"/>
                </a:solidFill>
                <a:latin typeface="Segoe UI"/>
              </a:rPr>
              <a:t>Keyless Kannada TTS + browser fallback; Tesseract.js in-browser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4965192"/>
            <a:ext cx="10424160" cy="10972"/>
          </a:xfrm>
          <a:prstGeom prst="rect">
            <a:avLst/>
          </a:prstGeom>
          <a:solidFill>
            <a:srgbClr val="1A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148071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9F1C"/>
                </a:solidFill>
                <a:latin typeface="Segoe UI"/>
              </a:rPr>
              <a:t>Storage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5148071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F7F2E7"/>
                </a:solidFill>
                <a:latin typeface="Segoe UI"/>
              </a:rPr>
              <a:t>localStorage + IndexedDB — local-first, no login, offline PWA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5623559"/>
            <a:ext cx="10424160" cy="10972"/>
          </a:xfrm>
          <a:prstGeom prst="rect">
            <a:avLst/>
          </a:prstGeom>
          <a:solidFill>
            <a:srgbClr val="1A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06439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9F1C"/>
                </a:solidFill>
                <a:latin typeface="Segoe UI"/>
              </a:rPr>
              <a:t>Deploy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5806439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F7F2E7"/>
                </a:solidFill>
                <a:latin typeface="Segoe UI"/>
              </a:rPr>
              <a:t>Vercel — single deployment, one free NIM key, no database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6281927"/>
            <a:ext cx="10424160" cy="10972"/>
          </a:xfrm>
          <a:prstGeom prst="rect">
            <a:avLst/>
          </a:prstGeom>
          <a:solidFill>
            <a:srgbClr val="1A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786384"/>
            <a:ext cx="82296" cy="310896"/>
          </a:xfrm>
          <a:prstGeom prst="rect">
            <a:avLst/>
          </a:prstGeom>
          <a:solidFill>
            <a:srgbClr val="E03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749808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03E8A"/>
                </a:solidFill>
                <a:latin typeface="Segoe UI"/>
              </a:rPr>
              <a:t>06  ·  WHY IT'S DIFFERENT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F7F2E7"/>
                </a:solidFill>
                <a:latin typeface="Georgia"/>
              </a:rPr>
              <a:t>Not another encyclopedia app.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514600"/>
            <a:ext cx="5166360" cy="1005840"/>
          </a:xfrm>
          <a:prstGeom prst="roundRect">
            <a:avLst>
              <a:gd name="adj" fmla="val 8000"/>
            </a:avLst>
          </a:prstGeom>
          <a:solidFill>
            <a:srgbClr val="241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5568" y="2898648"/>
            <a:ext cx="237744" cy="237744"/>
          </a:xfrm>
          <a:prstGeom prst="ellipse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00200" y="267919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9F1C"/>
                </a:solidFill>
                <a:latin typeface="Segoe UI"/>
              </a:rPr>
              <a:t>Family-first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3063240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B9B0C8"/>
                </a:solidFill>
                <a:latin typeface="Segoe UI"/>
              </a:rPr>
              <a:t>Begins with your elder's voice, not a textbook.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514600"/>
            <a:ext cx="5166360" cy="1005840"/>
          </a:xfrm>
          <a:prstGeom prst="roundRect">
            <a:avLst>
              <a:gd name="adj" fmla="val 8000"/>
            </a:avLst>
          </a:prstGeom>
          <a:solidFill>
            <a:srgbClr val="241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64808" y="2898648"/>
            <a:ext cx="237744" cy="237744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267919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EC4B6"/>
                </a:solidFill>
                <a:latin typeface="Segoe UI"/>
              </a:rPr>
              <a:t>Shows its sources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3063240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B9B0C8"/>
                </a:solidFill>
                <a:latin typeface="Segoe UI"/>
              </a:rPr>
              <a:t>Grounded AI cites Wikipedia — no invented history.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03320"/>
            <a:ext cx="5166360" cy="1005840"/>
          </a:xfrm>
          <a:prstGeom prst="roundRect">
            <a:avLst>
              <a:gd name="adj" fmla="val 8000"/>
            </a:avLst>
          </a:prstGeom>
          <a:solidFill>
            <a:srgbClr val="241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15568" y="4087368"/>
            <a:ext cx="237744" cy="237744"/>
          </a:xfrm>
          <a:prstGeom prst="ellipse">
            <a:avLst/>
          </a:prstGeom>
          <a:solidFill>
            <a:srgbClr val="E03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00200" y="3867911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E03E8A"/>
                </a:solidFill>
                <a:latin typeface="Segoe UI"/>
              </a:rPr>
              <a:t>Private by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4251959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B9B0C8"/>
                </a:solidFill>
                <a:latin typeface="Segoe UI"/>
              </a:rPr>
              <a:t>No account, no upload; data stays on your device.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703320"/>
            <a:ext cx="5166360" cy="1005840"/>
          </a:xfrm>
          <a:prstGeom prst="roundRect">
            <a:avLst>
              <a:gd name="adj" fmla="val 8000"/>
            </a:avLst>
          </a:prstGeom>
          <a:solidFill>
            <a:srgbClr val="241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4808" y="4087368"/>
            <a:ext cx="237744" cy="237744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0" y="3867911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EC4B6"/>
                </a:solidFill>
                <a:latin typeface="Segoe UI"/>
              </a:rPr>
              <a:t>Truly bilingual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251959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B9B0C8"/>
                </a:solidFill>
                <a:latin typeface="Segoe UI"/>
              </a:rPr>
              <a:t>Every string in EN, ಕನ್ನಡ, or both at once.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892040"/>
            <a:ext cx="5166360" cy="1005840"/>
          </a:xfrm>
          <a:prstGeom prst="roundRect">
            <a:avLst>
              <a:gd name="adj" fmla="val 8000"/>
            </a:avLst>
          </a:prstGeom>
          <a:solidFill>
            <a:srgbClr val="241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15568" y="5276088"/>
            <a:ext cx="237744" cy="237744"/>
          </a:xfrm>
          <a:prstGeom prst="ellipse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00200" y="5056631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9F1C"/>
                </a:solidFill>
                <a:latin typeface="Segoe UI"/>
              </a:rPr>
              <a:t>Works offline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5440679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B9B0C8"/>
                </a:solidFill>
                <a:latin typeface="Segoe UI"/>
              </a:rPr>
              <a:t>Core pages run without a network (PWA).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892040"/>
            <a:ext cx="5166360" cy="1005840"/>
          </a:xfrm>
          <a:prstGeom prst="roundRect">
            <a:avLst>
              <a:gd name="adj" fmla="val 8000"/>
            </a:avLst>
          </a:prstGeom>
          <a:solidFill>
            <a:srgbClr val="241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64808" y="5276088"/>
            <a:ext cx="237744" cy="237744"/>
          </a:xfrm>
          <a:prstGeom prst="ellipse">
            <a:avLst/>
          </a:prstGeom>
          <a:solidFill>
            <a:srgbClr val="E03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0" y="5056631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E03E8A"/>
                </a:solidFill>
                <a:latin typeface="Segoe UI"/>
              </a:rPr>
              <a:t>Zero-friction demo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5440679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B9B0C8"/>
                </a:solidFill>
                <a:latin typeface="Segoe UI"/>
              </a:rPr>
              <a:t>No login — judges use every feature instantly.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786384"/>
            <a:ext cx="82296" cy="310896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749808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9F1C"/>
                </a:solidFill>
                <a:latin typeface="Segoe UI"/>
              </a:rPr>
              <a:t>07  ·  BUSINESS VIABILITY &amp;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F7F2E7"/>
                </a:solidFill>
                <a:latin typeface="Georgia"/>
              </a:rPr>
              <a:t>High margin. Real Karnataka impact.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468880"/>
            <a:ext cx="10515600" cy="960120"/>
          </a:xfrm>
          <a:prstGeom prst="roundRect">
            <a:avLst>
              <a:gd name="adj" fmla="val 8000"/>
            </a:avLst>
          </a:prstGeom>
          <a:solidFill>
            <a:srgbClr val="1A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487168"/>
            <a:ext cx="10058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7F2E7"/>
                </a:solidFill>
                <a:latin typeface="Segoe UI"/>
              </a:rPr>
              <a:t>Scale path:  Diaspora families  →  Kannada schools &amp; cultural associations  →  other Indian languages (same engine, swap datasets)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657600"/>
            <a:ext cx="3383280" cy="2468880"/>
          </a:xfrm>
          <a:prstGeom prst="roundRect">
            <a:avLst>
              <a:gd name="adj" fmla="val 8000"/>
            </a:avLst>
          </a:prstGeom>
          <a:solidFill>
            <a:srgbClr val="241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3657600"/>
            <a:ext cx="3383280" cy="12801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950208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EC4B6"/>
                </a:solidFill>
                <a:latin typeface="Georgia"/>
              </a:rPr>
              <a:t>Karnataka angle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4617720"/>
            <a:ext cx="2834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F7F2E7"/>
                </a:solidFill>
                <a:latin typeface="Segoe UI"/>
              </a:rPr>
              <a:t>Tourism via the district Explore layer; a discovery surface for local MSMEs &amp; artisans through festivals and stories.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3657600"/>
            <a:ext cx="3383280" cy="2468880"/>
          </a:xfrm>
          <a:prstGeom prst="roundRect">
            <a:avLst>
              <a:gd name="adj" fmla="val 8000"/>
            </a:avLst>
          </a:prstGeom>
          <a:solidFill>
            <a:srgbClr val="241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3657600"/>
            <a:ext cx="3383280" cy="128016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27448" y="3950208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9F1C"/>
                </a:solidFill>
                <a:latin typeface="Georgia"/>
              </a:rPr>
              <a:t>Cost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4617720"/>
            <a:ext cx="2834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F7F2E7"/>
                </a:solidFill>
                <a:latin typeface="Segoe UI"/>
              </a:rPr>
              <a:t>Near-zero infra — one Vercel deploy + free NIM tier, no database. High margin by construction.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3657600"/>
            <a:ext cx="3383280" cy="2468880"/>
          </a:xfrm>
          <a:prstGeom prst="roundRect">
            <a:avLst>
              <a:gd name="adj" fmla="val 8000"/>
            </a:avLst>
          </a:prstGeom>
          <a:solidFill>
            <a:srgbClr val="241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3657600"/>
            <a:ext cx="3383280" cy="128016"/>
          </a:xfrm>
          <a:prstGeom prst="rect">
            <a:avLst/>
          </a:prstGeom>
          <a:solidFill>
            <a:srgbClr val="E03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8" y="3950208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E03E8A"/>
                </a:solidFill>
                <a:latin typeface="Georgia"/>
              </a:rPr>
              <a:t>Revenue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8" y="4617720"/>
            <a:ext cx="2834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F7F2E7"/>
                </a:solidFill>
                <a:latin typeface="Segoe UI"/>
              </a:rPr>
              <a:t>School / institution licences and an optional opt-in cloud-sync tier for families across devices.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786384"/>
            <a:ext cx="82296" cy="3108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749808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C4B6"/>
                </a:solidFill>
                <a:latin typeface="Segoe UI"/>
              </a:rPr>
              <a:t>08  ·  IMPACT &amp; FEEDBACK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F7F2E7"/>
                </a:solidFill>
                <a:latin typeface="Georgia"/>
              </a:rPr>
              <a:t>Every preserved voice becomes a lesson.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514600"/>
            <a:ext cx="3383280" cy="1737360"/>
          </a:xfrm>
          <a:prstGeom prst="roundRect">
            <a:avLst>
              <a:gd name="adj" fmla="val 8000"/>
            </a:avLst>
          </a:prstGeom>
          <a:solidFill>
            <a:srgbClr val="241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697480"/>
            <a:ext cx="2834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9F1C"/>
                </a:solidFill>
                <a:latin typeface="Georgia"/>
              </a:rPr>
              <a:t>1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3520440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F7F2E7"/>
                </a:solidFill>
                <a:latin typeface="Segoe UI"/>
              </a:rPr>
              <a:t>to preserve a voice
and auto-build a lesson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514600"/>
            <a:ext cx="3383280" cy="1737360"/>
          </a:xfrm>
          <a:prstGeom prst="roundRect">
            <a:avLst>
              <a:gd name="adj" fmla="val 8000"/>
            </a:avLst>
          </a:prstGeom>
          <a:solidFill>
            <a:srgbClr val="241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2697480"/>
            <a:ext cx="2834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E03E8A"/>
                </a:solidFill>
                <a:latin typeface="Georgia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3520440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F7F2E7"/>
                </a:solidFill>
                <a:latin typeface="Segoe UI"/>
              </a:rPr>
              <a:t>logins, uploads, or
credentials required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514600"/>
            <a:ext cx="3383280" cy="1737360"/>
          </a:xfrm>
          <a:prstGeom prst="roundRect">
            <a:avLst>
              <a:gd name="adj" fmla="val 8000"/>
            </a:avLst>
          </a:prstGeom>
          <a:solidFill>
            <a:srgbClr val="241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2697480"/>
            <a:ext cx="2834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2EC4B6"/>
                </a:solidFill>
                <a:latin typeface="Georgia"/>
              </a:rPr>
              <a:t>EN + ಕನ್ನಡ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8" y="3520440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F7F2E7"/>
                </a:solidFill>
                <a:latin typeface="Segoe UI"/>
              </a:rPr>
              <a:t>every screen,
fully bilingual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526280"/>
            <a:ext cx="10515600" cy="1600200"/>
          </a:xfrm>
          <a:prstGeom prst="roundRect">
            <a:avLst>
              <a:gd name="adj" fmla="val 8000"/>
            </a:avLst>
          </a:prstGeom>
          <a:solidFill>
            <a:srgbClr val="1A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709160"/>
            <a:ext cx="100584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F7F2E7"/>
                </a:solidFill>
                <a:latin typeface="Segoe UI"/>
              </a:rPr>
              <a:t>Inclusive by design — usable by non-technical elders on any device. The preserve-and-teach loop turns a passive “someday I'll record grandpa” intention into a finished, shareable bilingual lesson.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1">
                <a:solidFill>
                  <a:srgbClr val="B9B0C8"/>
                </a:solidFill>
                <a:latin typeface="Segoe UI"/>
              </a:rPr>
              <a:t>Add tester quotes / feedback gathered during the build phase 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91440" cy="6858000"/>
          </a:xfrm>
          <a:prstGeom prst="rect">
            <a:avLst/>
          </a:prstGeom>
          <a:solidFill>
            <a:srgbClr val="E03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786384"/>
            <a:ext cx="82296" cy="310896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749808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9F1C"/>
                </a:solidFill>
                <a:latin typeface="Segoe UI"/>
              </a:rPr>
              <a:t>09  ·  6-MONTH ROADMAP &amp; THE 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F7F2E7"/>
                </a:solidFill>
                <a:latin typeface="Georgia"/>
              </a:rPr>
              <a:t>If we had six more months…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615184"/>
            <a:ext cx="182880" cy="182880"/>
          </a:xfrm>
          <a:prstGeom prst="ellipse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468880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7F2E7"/>
                </a:solidFill>
                <a:latin typeface="Segoe UI"/>
              </a:rPr>
              <a:t>Opt-in cloud sync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46888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B9B0C8"/>
                </a:solidFill>
                <a:latin typeface="Segoe UI"/>
              </a:rPr>
              <a:t>RLS-protected accounts + cross-device audio.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182112"/>
            <a:ext cx="182880" cy="182880"/>
          </a:xfrm>
          <a:prstGeom prst="ellipse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3035808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7F2E7"/>
                </a:solidFill>
                <a:latin typeface="Segoe UI"/>
              </a:rPr>
              <a:t>Voice-cloning narration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03580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B9B0C8"/>
                </a:solidFill>
                <a:latin typeface="Segoe UI"/>
              </a:rPr>
              <a:t>Preserved recordings speak new text in the elder's own voice (with consent).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3749040"/>
            <a:ext cx="182880" cy="182880"/>
          </a:xfrm>
          <a:prstGeom prst="ellipse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3602736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7F2E7"/>
                </a:solidFill>
                <a:latin typeface="Segoe UI"/>
              </a:rPr>
              <a:t>Community oral-history wall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360273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B9B0C8"/>
                </a:solidFill>
                <a:latin typeface="Segoe UI"/>
              </a:rPr>
              <a:t>Moderated public archive of shared voices.</a:t>
            </a:r>
          </a:p>
        </p:txBody>
      </p:sp>
      <p:sp>
        <p:nvSpPr>
          <p:cNvPr id="17" name="Oval 16"/>
          <p:cNvSpPr/>
          <p:nvPr/>
        </p:nvSpPr>
        <p:spPr>
          <a:xfrm>
            <a:off x="914400" y="4315968"/>
            <a:ext cx="182880" cy="182880"/>
          </a:xfrm>
          <a:prstGeom prst="ellipse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4169664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7F2E7"/>
                </a:solidFill>
                <a:latin typeface="Segoe UI"/>
              </a:rPr>
              <a:t>School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416966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B9B0C8"/>
                </a:solidFill>
                <a:latin typeface="Segoe UI"/>
              </a:rPr>
              <a:t>Teacher dashboards + assignments from Voice Legacy lessons.</a:t>
            </a:r>
          </a:p>
        </p:txBody>
      </p:sp>
      <p:sp>
        <p:nvSpPr>
          <p:cNvPr id="20" name="Oval 19"/>
          <p:cNvSpPr/>
          <p:nvPr/>
        </p:nvSpPr>
        <p:spPr>
          <a:xfrm>
            <a:off x="914400" y="4882896"/>
            <a:ext cx="182880" cy="182880"/>
          </a:xfrm>
          <a:prstGeom prst="ellipse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80160" y="4736592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7F2E7"/>
                </a:solidFill>
                <a:latin typeface="Segoe UI"/>
              </a:rPr>
              <a:t>Kannada literary retrieval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473659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B9B0C8"/>
                </a:solidFill>
                <a:latin typeface="Segoe UI"/>
              </a:rPr>
              <a:t>Grounding beyond Wikipedia into curated Kannada sources.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532120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1A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5550408"/>
            <a:ext cx="10058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9F1C"/>
                </a:solidFill>
                <a:latin typeface="Segoe UI"/>
              </a:rPr>
              <a:t>The ask:  a pilot with a Kannada school or cultural association — and support to bring family heritage preservation to every diaspora home.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